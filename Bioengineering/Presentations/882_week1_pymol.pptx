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B1BC61-A9FD-14AA-C4F0-C2E21D29ACD5}" v="620" dt="2026-01-21T20:40:02.026"/>
    <p1510:client id="{BF6CD46F-952D-0B13-3B3A-F7417F9F48EF}" v="284" dt="2026-01-20T14:49:47.371"/>
    <p1510:client id="{E72590BF-40FF-0E9E-2327-8ED8655E50F9}" v="14" dt="2026-01-20T14:36:00.2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E6CA7-8B3B-D291-7443-B2CD9C770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E544F-4B52-6AE0-7579-647D1FA6C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950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F7796-168C-1F1B-E5C3-928580CD0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8IKW - AlphaFold</a:t>
            </a:r>
          </a:p>
        </p:txBody>
      </p:sp>
      <p:pic>
        <p:nvPicPr>
          <p:cNvPr id="4" name="Content Placeholder 3" descr="A green and yellow structure&#10;&#10;AI-generated content may be incorrect.">
            <a:extLst>
              <a:ext uri="{FF2B5EF4-FFF2-40B4-BE49-F238E27FC236}">
                <a16:creationId xmlns:a16="http://schemas.microsoft.com/office/drawing/2014/main" id="{FAD7AEED-6D01-9D96-0256-0DC7B3A4FD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975" y="2378869"/>
            <a:ext cx="5486400" cy="4114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5F3375-4B7D-F931-D684-2B55E54C2814}"/>
              </a:ext>
            </a:extLst>
          </p:cNvPr>
          <p:cNvSpPr txBox="1"/>
          <p:nvPr/>
        </p:nvSpPr>
        <p:spPr>
          <a:xfrm>
            <a:off x="5939424" y="2025041"/>
            <a:ext cx="566802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Nearly perfect match</a:t>
            </a:r>
          </a:p>
        </p:txBody>
      </p:sp>
    </p:spTree>
    <p:extLst>
      <p:ext uri="{BB962C8B-B14F-4D97-AF65-F5344CB8AC3E}">
        <p14:creationId xmlns:p14="http://schemas.microsoft.com/office/powerpoint/2010/main" val="3708436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E964C-42FB-663A-E21A-8BEB3A8F9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8HND - AlphaFold</a:t>
            </a:r>
          </a:p>
        </p:txBody>
      </p:sp>
      <p:pic>
        <p:nvPicPr>
          <p:cNvPr id="4" name="Content Placeholder 3" descr="A blue and yellow spirals&#10;&#10;AI-generated content may be incorrect.">
            <a:extLst>
              <a:ext uri="{FF2B5EF4-FFF2-40B4-BE49-F238E27FC236}">
                <a16:creationId xmlns:a16="http://schemas.microsoft.com/office/drawing/2014/main" id="{BB9C12C7-3554-A017-3D84-8EF3BBAE8D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2694" y="1572419"/>
            <a:ext cx="6142547" cy="46045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F65475-1F0F-DEC7-9795-DF9A1EE9D847}"/>
              </a:ext>
            </a:extLst>
          </p:cNvPr>
          <p:cNvSpPr txBox="1"/>
          <p:nvPr/>
        </p:nvSpPr>
        <p:spPr>
          <a:xfrm>
            <a:off x="7006224" y="1958366"/>
            <a:ext cx="477267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Good match for some of the structure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Some of the external chains are far more spread out than in the predicted protein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907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A959E-E2BB-7770-38D9-300738B71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4MN8</a:t>
            </a:r>
          </a:p>
        </p:txBody>
      </p:sp>
      <p:pic>
        <p:nvPicPr>
          <p:cNvPr id="4" name="Content Placeholder 3" descr="A green and blue spiral structure&#10;&#10;AI-generated content may be incorrect.">
            <a:extLst>
              <a:ext uri="{FF2B5EF4-FFF2-40B4-BE49-F238E27FC236}">
                <a16:creationId xmlns:a16="http://schemas.microsoft.com/office/drawing/2014/main" id="{C296B6A4-7B43-F0C5-E073-E8E30616FB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5928" y="1701456"/>
            <a:ext cx="6549966" cy="49172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B49828-1A00-77D6-5BED-AD0E85B44C29}"/>
              </a:ext>
            </a:extLst>
          </p:cNvPr>
          <p:cNvSpPr txBox="1"/>
          <p:nvPr/>
        </p:nvSpPr>
        <p:spPr>
          <a:xfrm>
            <a:off x="5939424" y="2025041"/>
            <a:ext cx="566802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Good similarity between </a:t>
            </a:r>
            <a:r>
              <a:rPr lang="en-US" err="1"/>
              <a:t>pridicted</a:t>
            </a:r>
            <a:r>
              <a:rPr lang="en-US"/>
              <a:t> and actual structure throughout the entire protein</a:t>
            </a:r>
          </a:p>
        </p:txBody>
      </p:sp>
    </p:spTree>
    <p:extLst>
      <p:ext uri="{BB962C8B-B14F-4D97-AF65-F5344CB8AC3E}">
        <p14:creationId xmlns:p14="http://schemas.microsoft.com/office/powerpoint/2010/main" val="986592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2DC19-59FB-2123-1BBD-9FCC3172D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3H3B </a:t>
            </a:r>
          </a:p>
        </p:txBody>
      </p:sp>
      <p:pic>
        <p:nvPicPr>
          <p:cNvPr id="4" name="Content Placeholder 3" descr="A computer screen shot of a blue and green structure&#10;&#10;AI-generated content may be incorrect.">
            <a:extLst>
              <a:ext uri="{FF2B5EF4-FFF2-40B4-BE49-F238E27FC236}">
                <a16:creationId xmlns:a16="http://schemas.microsoft.com/office/drawing/2014/main" id="{325F0356-261E-2237-C5D1-92B67FEB7B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1341" t="10714" r="14504" b="6056"/>
          <a:stretch>
            <a:fillRect/>
          </a:stretch>
        </p:blipFill>
        <p:spPr>
          <a:xfrm>
            <a:off x="559590" y="1714899"/>
            <a:ext cx="4081443" cy="3477880"/>
          </a:xfrm>
          <a:prstGeom prst="rect">
            <a:avLst/>
          </a:prstGeom>
        </p:spPr>
      </p:pic>
      <p:pic>
        <p:nvPicPr>
          <p:cNvPr id="7" name="Picture 6" descr="A green and blue ribbon&#10;&#10;AI-generated content may be incorrect.">
            <a:extLst>
              <a:ext uri="{FF2B5EF4-FFF2-40B4-BE49-F238E27FC236}">
                <a16:creationId xmlns:a16="http://schemas.microsoft.com/office/drawing/2014/main" id="{32BB1AD8-ADE5-923C-651C-CFDC92967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597" t="10767" r="15669" b="8464"/>
          <a:stretch>
            <a:fillRect/>
          </a:stretch>
        </p:blipFill>
        <p:spPr>
          <a:xfrm>
            <a:off x="7536857" y="1715950"/>
            <a:ext cx="4347416" cy="34824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DAABE6-90D9-9AD1-554B-35FEBE105B42}"/>
              </a:ext>
            </a:extLst>
          </p:cNvPr>
          <p:cNvSpPr txBox="1"/>
          <p:nvPr/>
        </p:nvSpPr>
        <p:spPr>
          <a:xfrm>
            <a:off x="559542" y="5281922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AlphaFold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FA85C6-EA8E-3050-D61D-CE48C1B13F1D}"/>
              </a:ext>
            </a:extLst>
          </p:cNvPr>
          <p:cNvSpPr txBox="1"/>
          <p:nvPr/>
        </p:nvSpPr>
        <p:spPr>
          <a:xfrm>
            <a:off x="7538922" y="5281921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Boltz-2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F384D3-B1C4-109D-984A-AAF847E2E6B1}"/>
              </a:ext>
            </a:extLst>
          </p:cNvPr>
          <p:cNvSpPr txBox="1"/>
          <p:nvPr/>
        </p:nvSpPr>
        <p:spPr>
          <a:xfrm>
            <a:off x="4722767" y="2992051"/>
            <a:ext cx="274319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Overall good overlap from both models on predicted structure</a:t>
            </a:r>
          </a:p>
        </p:txBody>
      </p:sp>
    </p:spTree>
    <p:extLst>
      <p:ext uri="{BB962C8B-B14F-4D97-AF65-F5344CB8AC3E}">
        <p14:creationId xmlns:p14="http://schemas.microsoft.com/office/powerpoint/2010/main" val="3043185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3618A2-DAF7-2FC2-B826-13118D860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428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8IQS</a:t>
            </a:r>
          </a:p>
        </p:txBody>
      </p:sp>
      <p:pic>
        <p:nvPicPr>
          <p:cNvPr id="4" name="Picture 3" descr="A green and blue plant&#10;&#10;AI-generated content may be incorrect.">
            <a:extLst>
              <a:ext uri="{FF2B5EF4-FFF2-40B4-BE49-F238E27FC236}">
                <a16:creationId xmlns:a16="http://schemas.microsoft.com/office/drawing/2014/main" id="{47BB7A82-14A8-0CE5-32CC-6A159E0CD5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273" t="18354" r="31426" b="9724"/>
          <a:stretch>
            <a:fillRect/>
          </a:stretch>
        </p:blipFill>
        <p:spPr>
          <a:xfrm>
            <a:off x="7396825" y="1592183"/>
            <a:ext cx="3961424" cy="3981690"/>
          </a:xfrm>
          <a:prstGeom prst="rect">
            <a:avLst/>
          </a:prstGeom>
        </p:spPr>
      </p:pic>
      <p:pic>
        <p:nvPicPr>
          <p:cNvPr id="5" name="Picture 4" descr="A computer screen shot of a blue and green object&#10;&#10;AI-generated content may be incorrect.">
            <a:extLst>
              <a:ext uri="{FF2B5EF4-FFF2-40B4-BE49-F238E27FC236}">
                <a16:creationId xmlns:a16="http://schemas.microsoft.com/office/drawing/2014/main" id="{FCBD2FFD-BC6F-619E-D0EB-A68E2B3E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540" t="10220" r="12672" b="3612"/>
          <a:stretch>
            <a:fillRect/>
          </a:stretch>
        </p:blipFill>
        <p:spPr>
          <a:xfrm>
            <a:off x="389163" y="1859415"/>
            <a:ext cx="4101699" cy="36903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1ED43C-9773-1301-7D0D-EB0EF5C8AE53}"/>
              </a:ext>
            </a:extLst>
          </p:cNvPr>
          <p:cNvSpPr txBox="1"/>
          <p:nvPr/>
        </p:nvSpPr>
        <p:spPr>
          <a:xfrm>
            <a:off x="389213" y="5577440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AlphaFold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DD48FA-37D1-A965-AE0C-F6FF6E8BB33C}"/>
              </a:ext>
            </a:extLst>
          </p:cNvPr>
          <p:cNvSpPr txBox="1"/>
          <p:nvPr/>
        </p:nvSpPr>
        <p:spPr>
          <a:xfrm>
            <a:off x="7395566" y="5577439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Boltz-2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62623F-A88A-0227-E384-21C510D5F7A4}"/>
              </a:ext>
            </a:extLst>
          </p:cNvPr>
          <p:cNvSpPr txBox="1"/>
          <p:nvPr/>
        </p:nvSpPr>
        <p:spPr>
          <a:xfrm>
            <a:off x="4556249" y="3061315"/>
            <a:ext cx="27432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Decent overlap between the beta sheets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Alpha helices don't all align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Some stray loops</a:t>
            </a:r>
          </a:p>
        </p:txBody>
      </p:sp>
    </p:spTree>
    <p:extLst>
      <p:ext uri="{BB962C8B-B14F-4D97-AF65-F5344CB8AC3E}">
        <p14:creationId xmlns:p14="http://schemas.microsoft.com/office/powerpoint/2010/main" val="63230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2C3B5-0043-C250-D3DD-D6DABA8B8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8JYR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BFFCB7-939E-12BD-706F-B79CC708DD37}"/>
              </a:ext>
            </a:extLst>
          </p:cNvPr>
          <p:cNvSpPr txBox="1"/>
          <p:nvPr/>
        </p:nvSpPr>
        <p:spPr>
          <a:xfrm>
            <a:off x="303294" y="5578630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AlphaFold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9D7815-E3CB-4FE0-84CA-F171E62D6C68}"/>
              </a:ext>
            </a:extLst>
          </p:cNvPr>
          <p:cNvSpPr txBox="1"/>
          <p:nvPr/>
        </p:nvSpPr>
        <p:spPr>
          <a:xfrm>
            <a:off x="7498462" y="5578629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Boltz-2</a:t>
            </a:r>
          </a:p>
        </p:txBody>
      </p:sp>
      <p:pic>
        <p:nvPicPr>
          <p:cNvPr id="8" name="Picture 7" descr="A green and blue string&#10;&#10;AI-generated content may be incorrect.">
            <a:extLst>
              <a:ext uri="{FF2B5EF4-FFF2-40B4-BE49-F238E27FC236}">
                <a16:creationId xmlns:a16="http://schemas.microsoft.com/office/drawing/2014/main" id="{690E1FC8-3560-206C-A51B-74F0E678C7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650" t="3276" r="19949" b="-11552"/>
          <a:stretch>
            <a:fillRect/>
          </a:stretch>
        </p:blipFill>
        <p:spPr>
          <a:xfrm rot="16200000">
            <a:off x="7675172" y="1513350"/>
            <a:ext cx="3882077" cy="4238546"/>
          </a:xfrm>
          <a:prstGeom prst="rect">
            <a:avLst/>
          </a:prstGeom>
        </p:spPr>
      </p:pic>
      <p:pic>
        <p:nvPicPr>
          <p:cNvPr id="9" name="Picture 8" descr="A green and blue lines on a black background&#10;&#10;AI-generated content may be incorrect.">
            <a:extLst>
              <a:ext uri="{FF2B5EF4-FFF2-40B4-BE49-F238E27FC236}">
                <a16:creationId xmlns:a16="http://schemas.microsoft.com/office/drawing/2014/main" id="{56C14DB7-6579-74BE-56E3-D35D5E02EC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631" t="3244" r="29203" b="5344"/>
          <a:stretch>
            <a:fillRect/>
          </a:stretch>
        </p:blipFill>
        <p:spPr>
          <a:xfrm>
            <a:off x="278164" y="1534042"/>
            <a:ext cx="3933947" cy="40460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E30FC3-754C-F8F1-AA77-7B2111C9A5D7}"/>
              </a:ext>
            </a:extLst>
          </p:cNvPr>
          <p:cNvSpPr txBox="1"/>
          <p:nvPr/>
        </p:nvSpPr>
        <p:spPr>
          <a:xfrm>
            <a:off x="4338153" y="3266255"/>
            <a:ext cx="2743199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Boltz-2 model structure is missing a big loop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All the other beta sheet and alpha helices overlap well</a:t>
            </a:r>
          </a:p>
        </p:txBody>
      </p:sp>
    </p:spTree>
    <p:extLst>
      <p:ext uri="{BB962C8B-B14F-4D97-AF65-F5344CB8AC3E}">
        <p14:creationId xmlns:p14="http://schemas.microsoft.com/office/powerpoint/2010/main" val="432703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55AE4-FBAC-3BF5-3A90-7AF448878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3KDM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61D436-224F-AF6D-3AFC-3CEC5A8E9950}"/>
              </a:ext>
            </a:extLst>
          </p:cNvPr>
          <p:cNvSpPr txBox="1"/>
          <p:nvPr/>
        </p:nvSpPr>
        <p:spPr>
          <a:xfrm>
            <a:off x="626976" y="5693267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AlphaFold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94D978-3355-3E45-C030-1C3101A7E7D9}"/>
              </a:ext>
            </a:extLst>
          </p:cNvPr>
          <p:cNvSpPr txBox="1"/>
          <p:nvPr/>
        </p:nvSpPr>
        <p:spPr>
          <a:xfrm>
            <a:off x="7768197" y="5639319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Boltz-2</a:t>
            </a:r>
          </a:p>
        </p:txBody>
      </p:sp>
      <p:pic>
        <p:nvPicPr>
          <p:cNvPr id="8" name="Picture 7" descr="A green and blue string&#10;&#10;AI-generated content may be incorrect.">
            <a:extLst>
              <a:ext uri="{FF2B5EF4-FFF2-40B4-BE49-F238E27FC236}">
                <a16:creationId xmlns:a16="http://schemas.microsoft.com/office/drawing/2014/main" id="{00AECE92-B485-4BD8-E090-AECBA7669A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810" t="2640" r="12418" b="9812"/>
          <a:stretch>
            <a:fillRect/>
          </a:stretch>
        </p:blipFill>
        <p:spPr>
          <a:xfrm rot="5400000">
            <a:off x="7510206" y="1289641"/>
            <a:ext cx="4611188" cy="4088495"/>
          </a:xfrm>
          <a:prstGeom prst="rect">
            <a:avLst/>
          </a:prstGeom>
        </p:spPr>
      </p:pic>
      <p:pic>
        <p:nvPicPr>
          <p:cNvPr id="9" name="Picture 8" descr="A computer screen shot of a green and blue structure&#10;&#10;AI-generated content may be incorrect.">
            <a:extLst>
              <a:ext uri="{FF2B5EF4-FFF2-40B4-BE49-F238E27FC236}">
                <a16:creationId xmlns:a16="http://schemas.microsoft.com/office/drawing/2014/main" id="{C6E6B4DB-A3DD-2990-DCB8-B8345A257B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734" t="2660" r="13561" b="21080"/>
          <a:stretch>
            <a:fillRect/>
          </a:stretch>
        </p:blipFill>
        <p:spPr>
          <a:xfrm>
            <a:off x="629390" y="1437995"/>
            <a:ext cx="4399899" cy="42558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E7DE3C-4991-503C-D779-46C871DCBD5C}"/>
              </a:ext>
            </a:extLst>
          </p:cNvPr>
          <p:cNvSpPr txBox="1"/>
          <p:nvPr/>
        </p:nvSpPr>
        <p:spPr>
          <a:xfrm>
            <a:off x="5023313" y="2683549"/>
            <a:ext cx="2743199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Boltz-2 model structure is missing a big loop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All the other beta sheet and alpha helices overlap well</a:t>
            </a:r>
          </a:p>
        </p:txBody>
      </p:sp>
    </p:spTree>
    <p:extLst>
      <p:ext uri="{BB962C8B-B14F-4D97-AF65-F5344CB8AC3E}">
        <p14:creationId xmlns:p14="http://schemas.microsoft.com/office/powerpoint/2010/main" val="413055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8IKW - AlphaFold</vt:lpstr>
      <vt:lpstr>8HND - AlphaFold</vt:lpstr>
      <vt:lpstr>4MN8</vt:lpstr>
      <vt:lpstr>3H3B </vt:lpstr>
      <vt:lpstr>8IQS</vt:lpstr>
      <vt:lpstr>8JYR</vt:lpstr>
      <vt:lpstr>3KDM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33</cp:revision>
  <dcterms:created xsi:type="dcterms:W3CDTF">2026-01-15T16:47:50Z</dcterms:created>
  <dcterms:modified xsi:type="dcterms:W3CDTF">2026-02-16T14:51:51Z</dcterms:modified>
</cp:coreProperties>
</file>