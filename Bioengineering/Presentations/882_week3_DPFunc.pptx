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8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5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643081-A5C6-CA41-56E6-33F1C2A84A61}" v="890" dt="2026-02-04T16:06:28.820"/>
    <p1510:client id="{5C0B0CB9-6AFC-A41D-9E43-C511CC4BA38C}" v="328" dt="2026-02-04T20:24:13.0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2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0120-CDFC-48DE-A6EA-6DEEDD0E436A}" type="datetimeFigureOut">
              <a:rPr lang="en-US" dirty="0"/>
              <a:t>2/5/2026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7294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FAAF-C467-4C93-8ECD-39AF5A14D498}" type="datetimeFigureOut">
              <a:rPr lang="en-US" dirty="0"/>
              <a:t>2/5/2026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458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E480-B2BA-4553-A144-61E7F75833ED}" type="datetimeFigureOut">
              <a:rPr lang="en-US" dirty="0"/>
              <a:t>2/5/2026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637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682A-6B53-4B08-AE4D-4C5E659103CC}" type="datetimeFigureOut">
              <a:rPr lang="en-US" dirty="0"/>
              <a:t>2/5/2026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717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0F6-BEBB-4894-ABB2-75C5CBE0DDB9}" type="datetimeFigureOut">
              <a:rPr lang="en-US" dirty="0"/>
              <a:t>2/5/2026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0582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9E5F-17D9-4A30-9DA3-64E46A6DF111}" type="datetimeFigureOut">
              <a:rPr lang="en-US" dirty="0"/>
              <a:t>2/5/2026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078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C5F0-3BC3-4718-BCCA-24B5655EC864}" type="datetimeFigureOut">
              <a:rPr lang="en-US" dirty="0"/>
              <a:t>2/5/2026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410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D81-465B-40F2-9A54-9DF3B12AF598}" type="datetimeFigureOut">
              <a:rPr lang="en-US" dirty="0"/>
              <a:t>2/5/2026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335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3CEF-64EF-4C43-9530-8E9CBFD2CAD1}" type="datetimeFigureOut">
              <a:rPr lang="en-US" dirty="0"/>
              <a:t>2/5/2026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373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5BA7-0A17-4D30-9B66-E29324151C73}" type="datetimeFigureOut">
              <a:rPr lang="en-US" dirty="0"/>
              <a:t>2/5/2026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453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B1B-D40A-4DB9-B3DE-BAAE675B83CD}" type="datetimeFigureOut">
              <a:rPr lang="en-US" dirty="0"/>
              <a:t>2/5/2026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280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B70A3DFD-A535-46B2-84C1-61DC8B16A904}" type="datetimeFigureOut">
              <a:rPr lang="en-US" dirty="0"/>
              <a:t>2/5/2026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6340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3840">
          <p15:clr>
            <a:srgbClr val="F26B43"/>
          </p15:clr>
        </p15:guide>
        <p15:guide id="3" pos="7200">
          <p15:clr>
            <a:srgbClr val="F26B43"/>
          </p15:clr>
        </p15:guide>
        <p15:guide id="4" pos="6720">
          <p15:clr>
            <a:srgbClr val="F26B43"/>
          </p15:clr>
        </p15:guide>
        <p15:guide id="16" pos="480">
          <p15:clr>
            <a:srgbClr val="F26B43"/>
          </p15:clr>
        </p15:guide>
        <p15:guide id="23" orient="horz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485D5D2-3149-40D3-4FEF-5071D184F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/>
          <a:lstStyle/>
          <a:p>
            <a:r>
              <a:rPr lang="en-US"/>
              <a:t>CMSE 882 week 3 HW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1074F09-87B6-DAA3-36F1-14D1EBE97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Michael Behrendt</a:t>
            </a:r>
          </a:p>
          <a:p>
            <a:r>
              <a:rPr lang="en-US"/>
              <a:t>Nicholas deCastro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422CB14D-2363-B81D-70D3-47C9E81AA8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1A002012-5BA4-4AAB-83FC-B8475D42C3A7}" type="datetime1">
              <a:rPr/>
              <a:pPr>
                <a:spcAft>
                  <a:spcPts val="600"/>
                </a:spcAft>
              </a:pPr>
              <a:t>2/5/2026</a:t>
            </a:fld>
            <a:endParaRPr lang="en-US"/>
          </a:p>
        </p:txBody>
      </p:sp>
      <p:sp>
        <p:nvSpPr>
          <p:cNvPr id="16" name="Footer Placeholder 5">
            <a:extLst>
              <a:ext uri="{FF2B5EF4-FFF2-40B4-BE49-F238E27FC236}">
                <a16:creationId xmlns:a16="http://schemas.microsoft.com/office/drawing/2014/main" id="{5830407B-22C9-2500-973A-C951C5213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8" name="Slide Number Placeholder 6">
            <a:extLst>
              <a:ext uri="{FF2B5EF4-FFF2-40B4-BE49-F238E27FC236}">
                <a16:creationId xmlns:a16="http://schemas.microsoft.com/office/drawing/2014/main" id="{C8D1D528-47FE-FE5B-C908-0F8295382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/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26DC0-C971-89A1-C786-14FABAC8F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Issues encountered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47F8B-F590-0DE8-19AD-78F637624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Model was operational by Mikey, but version conflicts prevented it from being run by Nicholas</a:t>
            </a:r>
          </a:p>
          <a:p>
            <a:r>
              <a:rPr lang="en-US" dirty="0"/>
              <a:t>Boltz2 could output .</a:t>
            </a:r>
            <a:r>
              <a:rPr lang="en-US" dirty="0" err="1"/>
              <a:t>pdb</a:t>
            </a:r>
            <a:r>
              <a:rPr lang="en-US" dirty="0"/>
              <a:t> or .</a:t>
            </a:r>
            <a:r>
              <a:rPr lang="en-US" dirty="0" err="1"/>
              <a:t>cif</a:t>
            </a:r>
            <a:r>
              <a:rPr lang="en-US" dirty="0"/>
              <a:t> files, but internal formatting needed to be changed by a script before they could be parsed by </a:t>
            </a:r>
            <a:r>
              <a:rPr lang="en-US" dirty="0" err="1"/>
              <a:t>DPFunc</a:t>
            </a:r>
            <a:endParaRPr lang="en-US" dirty="0"/>
          </a:p>
          <a:p>
            <a:r>
              <a:rPr lang="en-US" dirty="0" err="1"/>
              <a:t>DPFunc</a:t>
            </a:r>
            <a:r>
              <a:rPr lang="en-US" dirty="0"/>
              <a:t> uses a lot of space, so it could not be downloaded with CUDA support without exceeding HPCC limits</a:t>
            </a:r>
          </a:p>
          <a:p>
            <a:r>
              <a:rPr lang="en-US" dirty="0" err="1"/>
              <a:t>DPFunc</a:t>
            </a:r>
            <a:r>
              <a:rPr lang="en-US" dirty="0"/>
              <a:t> is best used with </a:t>
            </a:r>
            <a:r>
              <a:rPr lang="en-US" dirty="0" err="1"/>
              <a:t>InterProScan</a:t>
            </a:r>
            <a:r>
              <a:rPr lang="en-US" dirty="0"/>
              <a:t>, but that is &gt;100 GB and cannot be used with HPCC limits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EB04E-8E17-B1E1-C05A-5F6A8D4BE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84FB9-4257-494E-A502-4B1FC2A0D142}" type="datetime1">
              <a:rPr/>
              <a:t>2/5/2026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51677-4AC3-74BA-809F-01CA9B384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88113-B0EF-1F05-1C6A-042E73EB3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872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34667-39A6-F1A1-71BE-58FCFEE8C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DPFunc</a:t>
            </a:r>
            <a:r>
              <a:rPr lang="en-US" dirty="0"/>
              <a:t> – Molecular function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76812-D099-D144-5CBA-728EBB47E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7BC5-4636-466E-B101-F3DD011147CD}" type="datetime1">
              <a:rPr/>
              <a:t>2/5/2026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80189-A265-8B50-566A-ADD1AE031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76D13-6E69-1832-28F8-72D6B30C7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3</a:t>
            </a:fld>
            <a:endParaRPr lang="en-US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D301F21C-AF62-BAF3-80F7-AF59C42BDE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1661332"/>
              </p:ext>
            </p:extLst>
          </p:nvPr>
        </p:nvGraphicFramePr>
        <p:xfrm>
          <a:off x="1430338" y="2286000"/>
          <a:ext cx="9237662" cy="2849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618831">
                  <a:extLst>
                    <a:ext uri="{9D8B030D-6E8A-4147-A177-3AD203B41FA5}">
                      <a16:colId xmlns:a16="http://schemas.microsoft.com/office/drawing/2014/main" val="2561019311"/>
                    </a:ext>
                  </a:extLst>
                </a:gridCol>
                <a:gridCol w="4618831">
                  <a:extLst>
                    <a:ext uri="{9D8B030D-6E8A-4147-A177-3AD203B41FA5}">
                      <a16:colId xmlns:a16="http://schemas.microsoft.com/office/drawing/2014/main" val="11681013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Protein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F09D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9E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9D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A4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Top GO Terms (excluding root)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B09E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9E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9E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0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292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RIXI</a:t>
                      </a:r>
                      <a:endParaRPr lang="en-US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30A4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0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A4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1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binding (0.80), nucleic acid binding (0.30), protein binding (0.24)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F00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0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0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11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496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PGIP2</a:t>
                      </a:r>
                      <a:endParaRPr lang="en-US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701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11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1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1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binding (0.82), nucleic acid binding (0.28), protein binding (0.22)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B011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11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11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2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302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OATP1B1</a:t>
                      </a:r>
                      <a:endParaRPr lang="en-US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B01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2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1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2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binding (0.99), nucleic acid binding (0.27), protein binding (0.25)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302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2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2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2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793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FLS2</a:t>
                      </a:r>
                      <a:endParaRPr lang="en-US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B02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2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2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2A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binding (0.97), nucleic acid binding (0.31), DNA binding (0.23)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B02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2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2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2C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516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2144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1AEA8-2367-63E9-95F0-186C27EB4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DpFunc</a:t>
            </a:r>
            <a:r>
              <a:rPr lang="en-US" dirty="0"/>
              <a:t> – biological process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F142F-D664-90E8-0811-B541E281E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F6B25-CB1F-4A7D-867E-A74C64B7060C}" type="datetime1">
              <a:t>2/5/2026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8CE2B-CE41-2CF4-5F88-FE73D5BFC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20781-B721-D85C-7C95-F48725E49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4</a:t>
            </a:fld>
            <a:endParaRPr lang="en-US" dirty="0"/>
          </a:p>
        </p:txBody>
      </p:sp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737B1E2C-2862-60D6-EDAC-A448546263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240964"/>
              </p:ext>
            </p:extLst>
          </p:nvPr>
        </p:nvGraphicFramePr>
        <p:xfrm>
          <a:off x="1430338" y="2286000"/>
          <a:ext cx="9237662" cy="3947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618831">
                  <a:extLst>
                    <a:ext uri="{9D8B030D-6E8A-4147-A177-3AD203B41FA5}">
                      <a16:colId xmlns:a16="http://schemas.microsoft.com/office/drawing/2014/main" val="1857384041"/>
                    </a:ext>
                  </a:extLst>
                </a:gridCol>
                <a:gridCol w="4618831">
                  <a:extLst>
                    <a:ext uri="{9D8B030D-6E8A-4147-A177-3AD203B41FA5}">
                      <a16:colId xmlns:a16="http://schemas.microsoft.com/office/drawing/2014/main" val="11115512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Protein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708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D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8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7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Top GO Terms (excluding root)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70D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D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D3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C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621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RIXI</a:t>
                      </a:r>
                      <a:endParaRPr lang="en-US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707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C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7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F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organic substance metabolic process (0.57), cellular process (0.55), metabolic process (0.54), primary metabolic process (0.49)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F0C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C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CA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17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840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PGIP2</a:t>
                      </a:r>
                      <a:endParaRPr lang="en-US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30F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17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FF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cellular process (0.53), organic substance metabolic process (0.52), metabolic process (0.49), biological regulation (0.39)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3017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17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17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763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OATP1B1</a:t>
                      </a:r>
                      <a:endParaRPr lang="en-US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F0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cellular process (0.56), organic substance metabolic process (0.50), metabolic process (0.49), signaling (0.22)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B0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3E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111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FLS2</a:t>
                      </a:r>
                      <a:endParaRPr lang="en-US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F0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3E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2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cellular process (0.56), organic substance metabolic process (0.48), metabolic process (0.46), biological regulation (0.29)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703E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3E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3E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3E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8337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6434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777AB-FA34-2586-EE1C-33798D17F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9CB59-A3D8-B5EC-6CDA-81568B776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dpfunc</a:t>
            </a:r>
            <a:r>
              <a:rPr lang="en-US" dirty="0"/>
              <a:t> – cellular component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46BD7-DD1F-C694-91AD-B088F98C2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F6B25-CB1F-4A7D-867E-A74C64B7060C}" type="datetime1">
              <a:t>2/5/2026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AFB1D-1273-F86B-468B-DC2086D3F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45046-4F35-216C-EDAE-7DB327CC7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5</a:t>
            </a:fld>
            <a:endParaRPr lang="en-US" dirty="0"/>
          </a:p>
        </p:txBody>
      </p:sp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108D57CE-63EE-515A-2184-7ED70EAA02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7032282"/>
              </p:ext>
            </p:extLst>
          </p:nvPr>
        </p:nvGraphicFramePr>
        <p:xfrm>
          <a:off x="1430338" y="2286000"/>
          <a:ext cx="9237662" cy="4221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618831">
                  <a:extLst>
                    <a:ext uri="{9D8B030D-6E8A-4147-A177-3AD203B41FA5}">
                      <a16:colId xmlns:a16="http://schemas.microsoft.com/office/drawing/2014/main" val="3295523438"/>
                    </a:ext>
                  </a:extLst>
                </a:gridCol>
                <a:gridCol w="4618831">
                  <a:extLst>
                    <a:ext uri="{9D8B030D-6E8A-4147-A177-3AD203B41FA5}">
                      <a16:colId xmlns:a16="http://schemas.microsoft.com/office/drawing/2014/main" val="25824265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Protein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200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D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0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E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Top GO Terms (excluding root)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20D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D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D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FE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38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RIXI</a:t>
                      </a:r>
                      <a:endParaRPr lang="en-US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20E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FE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E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0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intracellular anatomical structure (0.58), cytoplasm (0.52), membrane-bounded organelle (0.33), endoplasmic reticulum (0.25)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60FE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FE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FE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0E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117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PGIP2</a:t>
                      </a:r>
                      <a:endParaRPr lang="en-US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200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0E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0F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07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intracellular anatomical structure (0.49), cytoplasm (0.40), cell periphery (0.25), membrane-bounded organelle (0.24)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600E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0E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0E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08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24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OATP1B1</a:t>
                      </a:r>
                      <a:endParaRPr lang="en-US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E007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08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07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0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intracellular anatomical structure (0.27), cytoplasm (0.20), cell periphery (0.20), membrane (0.08)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6008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08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08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1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219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FLS2</a:t>
                      </a:r>
                      <a:endParaRPr lang="en-US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600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1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0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0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intracellular anatomical structure (0.28), cytoplasm (0.20), cell periphery (0.20), membrane (0.10)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E01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1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1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1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504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787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4E4A4-0CFD-EE6F-57D3-A7CB585E4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Protein Comparison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40ED9-38C0-2B09-C4E6-BC4DACE63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33AEF-39D5-8654-FB56-DF62D7624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87704-9456-4D96-A467-36AAAF358516}" type="datetime1">
              <a:rPr/>
              <a:t>2/5/2026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9BA53-6C1A-9807-729C-D3DA237A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1D9C-5A4C-3D8C-93A8-09BA05F79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917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E6AE9-2BFB-0775-9277-96462A174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Protein Description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2AE36E07-0502-B4B8-CDEA-6989E99425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0014951"/>
              </p:ext>
            </p:extLst>
          </p:nvPr>
        </p:nvGraphicFramePr>
        <p:xfrm>
          <a:off x="2487613" y="3219450"/>
          <a:ext cx="9237657" cy="2849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44704">
                  <a:extLst>
                    <a:ext uri="{9D8B030D-6E8A-4147-A177-3AD203B41FA5}">
                      <a16:colId xmlns:a16="http://schemas.microsoft.com/office/drawing/2014/main" val="3915297481"/>
                    </a:ext>
                  </a:extLst>
                </a:gridCol>
                <a:gridCol w="1389529">
                  <a:extLst>
                    <a:ext uri="{9D8B030D-6E8A-4147-A177-3AD203B41FA5}">
                      <a16:colId xmlns:a16="http://schemas.microsoft.com/office/drawing/2014/main" val="3077047695"/>
                    </a:ext>
                  </a:extLst>
                </a:gridCol>
                <a:gridCol w="2808360">
                  <a:extLst>
                    <a:ext uri="{9D8B030D-6E8A-4147-A177-3AD203B41FA5}">
                      <a16:colId xmlns:a16="http://schemas.microsoft.com/office/drawing/2014/main" val="1082800462"/>
                    </a:ext>
                  </a:extLst>
                </a:gridCol>
                <a:gridCol w="1847532">
                  <a:extLst>
                    <a:ext uri="{9D8B030D-6E8A-4147-A177-3AD203B41FA5}">
                      <a16:colId xmlns:a16="http://schemas.microsoft.com/office/drawing/2014/main" val="132318029"/>
                    </a:ext>
                  </a:extLst>
                </a:gridCol>
                <a:gridCol w="1847532">
                  <a:extLst>
                    <a:ext uri="{9D8B030D-6E8A-4147-A177-3AD203B41FA5}">
                      <a16:colId xmlns:a16="http://schemas.microsoft.com/office/drawing/2014/main" val="42111895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Label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20E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1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E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9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PDB ID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A01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5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1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Protein Name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A05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8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5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A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Organism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A08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9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8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A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UniProt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609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9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9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A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232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RIXI</a:t>
                      </a:r>
                      <a:endParaRPr lang="en-US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609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9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B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N/A*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A0A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A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B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Rice Xylanase Inhibitor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E0A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A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A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B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Oryza sativa</a:t>
                      </a: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 (Rice)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20A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A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A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B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P83875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60A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A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A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931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PGIP2</a:t>
                      </a:r>
                      <a:endParaRPr lang="en-US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60B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B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B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8IKW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60B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B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B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1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Polygalacturonase Inhibitor 2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A0B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B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B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Phaseolus vulgaris</a:t>
                      </a: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 (Bean)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60B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B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P58822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60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853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OATP1B1</a:t>
                      </a:r>
                      <a:endParaRPr lang="en-US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60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1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E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8HND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E0C1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1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Organic Anion Transporter 1B1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A0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E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Homo sapiens</a:t>
                      </a: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 (Human)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E0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E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Q9Y6L6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2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F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5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FLS2</a:t>
                      </a:r>
                      <a:endParaRPr lang="en-US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60E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E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E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4MNA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E0E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E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Flagellin-Sensitive 2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20E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E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E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E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Arabidopsis thaliana</a:t>
                      </a:r>
                      <a:endParaRPr lang="en-US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A0E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F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E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E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Q9FL28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A0F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F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F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F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815755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0A051-C12F-127C-4D87-6F45E211F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37BD6-C303-4447-B4AF-5467C51BB443}" type="datetime1">
              <a:rPr/>
              <a:t>2/5/2026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C5ED8-0072-A803-E7E9-97DE8EBC9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94CF9-F9D4-10DC-8850-D9FA32242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594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4F5B0-C16E-9BB8-9487-8DE8EF479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241" y="169145"/>
            <a:ext cx="9238434" cy="857559"/>
          </a:xfrm>
        </p:spPr>
        <p:txBody>
          <a:bodyPr/>
          <a:lstStyle/>
          <a:p>
            <a:r>
              <a:rPr lang="en-US"/>
              <a:t>Molecular Function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E9BC3576-D282-B53D-CF2E-B98525876C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5669204"/>
              </p:ext>
            </p:extLst>
          </p:nvPr>
        </p:nvGraphicFramePr>
        <p:xfrm>
          <a:off x="2373313" y="1162050"/>
          <a:ext cx="9237657" cy="5318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37129">
                  <a:extLst>
                    <a:ext uri="{9D8B030D-6E8A-4147-A177-3AD203B41FA5}">
                      <a16:colId xmlns:a16="http://schemas.microsoft.com/office/drawing/2014/main" val="1479789873"/>
                    </a:ext>
                  </a:extLst>
                </a:gridCol>
                <a:gridCol w="3381700">
                  <a:extLst>
                    <a:ext uri="{9D8B030D-6E8A-4147-A177-3AD203B41FA5}">
                      <a16:colId xmlns:a16="http://schemas.microsoft.com/office/drawing/2014/main" val="495236373"/>
                    </a:ext>
                  </a:extLst>
                </a:gridCol>
                <a:gridCol w="2309414">
                  <a:extLst>
                    <a:ext uri="{9D8B030D-6E8A-4147-A177-3AD203B41FA5}">
                      <a16:colId xmlns:a16="http://schemas.microsoft.com/office/drawing/2014/main" val="1410670726"/>
                    </a:ext>
                  </a:extLst>
                </a:gridCol>
                <a:gridCol w="2309414">
                  <a:extLst>
                    <a:ext uri="{9D8B030D-6E8A-4147-A177-3AD203B41FA5}">
                      <a16:colId xmlns:a16="http://schemas.microsoft.com/office/drawing/2014/main" val="2162223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Protein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70CC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F6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CC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11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DPFunc Top Predictions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30F6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F7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F6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5F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Actual Known Function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B0F7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10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F7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52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Match?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3010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10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10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5D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865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RIXI</a:t>
                      </a:r>
                      <a:endParaRPr lang="en-US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3011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5F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11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Binding (0.80), Nucleic acid binding (0.30), DNA binding (0.19)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F05F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52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5F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6A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Enzyme inhibitor activity</a:t>
                      </a: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 - inhibits xylanase enzymes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3052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5D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52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6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⚠️ Partial - Predicted "binding" is correct, but missed enzyme inhibitor specificity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F05D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5D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5D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7F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603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PGIP2</a:t>
                      </a:r>
                      <a:endParaRPr lang="en-US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F0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6A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6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7F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Binding (0.82), Nucleic acid binding (0.28), Enzyme regulator activity (0.19)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306A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6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6A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7C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Polygalacturonase inhibitor activity</a:t>
                      </a: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, protein binding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706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7F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6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7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✅ Good - "Enzyme regulator activity" matches inhibitor function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F07F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7F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7F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8A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030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OATP1B1</a:t>
                      </a:r>
                      <a:endParaRPr lang="en-US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B07F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7C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7F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84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Binding (0.99), Nucleic acid binding (0.27), Protein binding (0.25)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307C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7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7C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8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Transporter activity</a:t>
                      </a: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 - organic anion transmembrane transporter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707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8A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7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8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❌ Missed - Failed to predict transporter function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F08A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8A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8A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9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202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FLS2</a:t>
                      </a:r>
                      <a:endParaRPr lang="en-US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7084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8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84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84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Binding (0.97), Nucleic acid binding (0.31), DNA binding (0.23)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B08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8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8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8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Protein kinase activity</a:t>
                      </a: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 (EC 2.7.11.1), Pattern recognition receptor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B08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9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8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8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⚠️ Partial - Binding correct but missed kinase activity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F09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9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9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98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4892547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23028-F6FD-D67C-5253-33736F9C0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A340-791A-4C50-8B90-227D84C0A6E4}" type="datetime1">
              <a:rPr/>
              <a:t>2/5/2026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33483-FD0E-9F74-7FA1-B7229FB3E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03F08-D955-9DED-590E-2FEA572B7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58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66ED4-4F73-3F83-3EDD-0E603FB3D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6B70C-02C2-199B-4B9C-7167E771D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816" y="321545"/>
            <a:ext cx="9238434" cy="857559"/>
          </a:xfrm>
        </p:spPr>
        <p:txBody>
          <a:bodyPr/>
          <a:lstStyle/>
          <a:p>
            <a:r>
              <a:rPr lang="en-US"/>
              <a:t>Biological process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57C60-B3B7-5124-6BDF-F017BBF2F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A340-791A-4C50-8B90-227D84C0A6E4}" type="datetime1">
              <a:rPr/>
              <a:t>2/5/2026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E5EA8-4368-59FC-40BF-90A65C1B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2FF0F-1ED5-45D9-0FB1-DF77EF1A6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9</a:t>
            </a:fld>
            <a:endParaRPr lang="en-US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7365C661-E0C5-1F05-56C0-F80F21C03E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9957765"/>
              </p:ext>
            </p:extLst>
          </p:nvPr>
        </p:nvGraphicFramePr>
        <p:xfrm>
          <a:off x="2373313" y="1371600"/>
          <a:ext cx="9237656" cy="5044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34352">
                  <a:extLst>
                    <a:ext uri="{9D8B030D-6E8A-4147-A177-3AD203B41FA5}">
                      <a16:colId xmlns:a16="http://schemas.microsoft.com/office/drawing/2014/main" val="4170452540"/>
                    </a:ext>
                  </a:extLst>
                </a:gridCol>
                <a:gridCol w="3184476">
                  <a:extLst>
                    <a:ext uri="{9D8B030D-6E8A-4147-A177-3AD203B41FA5}">
                      <a16:colId xmlns:a16="http://schemas.microsoft.com/office/drawing/2014/main" val="1391132180"/>
                    </a:ext>
                  </a:extLst>
                </a:gridCol>
                <a:gridCol w="2309414">
                  <a:extLst>
                    <a:ext uri="{9D8B030D-6E8A-4147-A177-3AD203B41FA5}">
                      <a16:colId xmlns:a16="http://schemas.microsoft.com/office/drawing/2014/main" val="1294092143"/>
                    </a:ext>
                  </a:extLst>
                </a:gridCol>
                <a:gridCol w="2309414">
                  <a:extLst>
                    <a:ext uri="{9D8B030D-6E8A-4147-A177-3AD203B41FA5}">
                      <a16:colId xmlns:a16="http://schemas.microsoft.com/office/drawing/2014/main" val="21479723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Protein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F0B6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BB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B6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DPFunc</a:t>
                      </a:r>
                      <a:r>
                        <a:rPr lang="en-US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 Top Predictions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F0BB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B5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BB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C5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Actual Known Function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70B5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C9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B5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4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Match?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30C9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C9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C9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967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RIXI</a:t>
                      </a:r>
                      <a:endParaRPr lang="en-US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B0C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C5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E4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Metabolic process (0.54), Biosynthetic process (0.37), Regulation (0.37)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B0C5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4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C5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Defense response</a:t>
                      </a: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, Regulation of enzyme activity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F0D4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4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7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⚠️ Partial - Regulation detected but defense missed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F0E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F7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206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PGIP2</a:t>
                      </a:r>
                      <a:endParaRPr lang="en-US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B0E4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E4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FF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Cellular process (0.53), Metabolic process (0.49), Biological regulation (0.39), Signal transduction (0.22)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F0E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7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F9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Plant defense response</a:t>
                      </a: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, Innate immunity, Cell wall modification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F0E7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F7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7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F6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✅ Good - Regulation and signaling match immune response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B0F7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F7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F7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0E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177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OATP1B1</a:t>
                      </a:r>
                      <a:endParaRPr lang="en-US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B0FF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F9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FF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07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Cellular process (0.56), Metabolic process (0.50), Signaling (0.22)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30F9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F6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F9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5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Bile acid/drug transport</a:t>
                      </a: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, Hepatic clearance, Xenobiotic metabolism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30F6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0E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F6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5C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⚠️ Partial - Metabolic process broadly correct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B00E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0E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0E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6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3885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FLS2</a:t>
                      </a:r>
                      <a:endParaRPr lang="en-US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B007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5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07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07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Cellular process (0.56), Metabolic process (0.48), Regulation (0.29), Signal transduction (0.17)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705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5C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5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5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Immune response</a:t>
                      </a: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, Pattern-triggered immunity, Flagellin recognition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305C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6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5C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5C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✅ Good - Signaling/regulation aligns with immune signaling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F06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6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6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6B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2278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9723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3C0CD-86ED-1CAF-517F-A6A6E3F91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2572B-A663-FA94-985E-56CC661F8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241" y="673970"/>
            <a:ext cx="9238434" cy="857559"/>
          </a:xfrm>
        </p:spPr>
        <p:txBody>
          <a:bodyPr/>
          <a:lstStyle/>
          <a:p>
            <a:r>
              <a:rPr lang="en-US" dirty="0"/>
              <a:t>Cellular component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08A64-0B11-C721-69F6-B87322D9F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4A340-791A-4C50-8B90-227D84C0A6E4}" type="datetime1">
              <a:rPr/>
              <a:t>2/5/2026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6AA08-485F-CD26-1355-3EA2238A0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0C4A8-4ECC-8F62-7078-E8F14253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10</a:t>
            </a:fld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8E253C7A-3DD2-E94C-49DB-E0CC65474A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5094396"/>
              </p:ext>
            </p:extLst>
          </p:nvPr>
        </p:nvGraphicFramePr>
        <p:xfrm>
          <a:off x="2373313" y="2057400"/>
          <a:ext cx="9237660" cy="4221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09415">
                  <a:extLst>
                    <a:ext uri="{9D8B030D-6E8A-4147-A177-3AD203B41FA5}">
                      <a16:colId xmlns:a16="http://schemas.microsoft.com/office/drawing/2014/main" val="501218220"/>
                    </a:ext>
                  </a:extLst>
                </a:gridCol>
                <a:gridCol w="2309415">
                  <a:extLst>
                    <a:ext uri="{9D8B030D-6E8A-4147-A177-3AD203B41FA5}">
                      <a16:colId xmlns:a16="http://schemas.microsoft.com/office/drawing/2014/main" val="2597002169"/>
                    </a:ext>
                  </a:extLst>
                </a:gridCol>
                <a:gridCol w="2309415">
                  <a:extLst>
                    <a:ext uri="{9D8B030D-6E8A-4147-A177-3AD203B41FA5}">
                      <a16:colId xmlns:a16="http://schemas.microsoft.com/office/drawing/2014/main" val="2310942383"/>
                    </a:ext>
                  </a:extLst>
                </a:gridCol>
                <a:gridCol w="2309415">
                  <a:extLst>
                    <a:ext uri="{9D8B030D-6E8A-4147-A177-3AD203B41FA5}">
                      <a16:colId xmlns:a16="http://schemas.microsoft.com/office/drawing/2014/main" val="12689058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Protein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A06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67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6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7F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DPFunc Top Predictions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E067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64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67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72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Actual Known Function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A064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64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64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89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Match?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6064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64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64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89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426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RIXI</a:t>
                      </a:r>
                      <a:endParaRPr lang="en-US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207F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72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7F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A0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Cytoplasm (0.52), Intracellular (0.58), ER (0.25)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A072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89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72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92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Extracellular/Secreted</a:t>
                      </a: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 - plant apoplast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6089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89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89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AC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❌ Missed - Predicted intracellular, actually secreted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E089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89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89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A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664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PGIP2</a:t>
                      </a:r>
                      <a:endParaRPr lang="en-US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60A0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92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A0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AC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Cytoplasm (0.40), Intracellular (0.49), Cell periphery (0.25)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2092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AC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92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A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Cell wall</a:t>
                      </a: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, Apoplast (extracellular)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20AC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A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AC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B4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⚠️ Partial - Cell periphery is close but missed cell wall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60A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A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A6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B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049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OATP1B1</a:t>
                      </a:r>
                      <a:endParaRPr lang="en-US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E0AC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A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AC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B9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Intracellular (0.27), Cytoplasm (0.20), Membrane (0.08)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20A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B4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A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B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Plasma membrane</a:t>
                      </a: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 - integral membrane protein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60B4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B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B4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C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⚠️ Partial - Membrane detected but low confidence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60B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B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BD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CE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750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FLS2</a:t>
                      </a:r>
                      <a:endParaRPr lang="en-US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20B9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B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B9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B9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Intracellular (0.28), Cytoplasm (0.20), Membrane (0.10)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E0B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C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B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B1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Plasma membrane</a:t>
                      </a: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 - receptor kinase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60C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CE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C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C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⚠️ Partial - Membrane detected but low confidence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A0CE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CE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CE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CE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889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9075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11CE5-9327-F52F-9C38-7BE1E56B5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BDEE2037-1BB9-3D1D-019A-340C07BA09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7695723"/>
              </p:ext>
            </p:extLst>
          </p:nvPr>
        </p:nvGraphicFramePr>
        <p:xfrm>
          <a:off x="1430338" y="2619375"/>
          <a:ext cx="9237662" cy="14020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618831">
                  <a:extLst>
                    <a:ext uri="{9D8B030D-6E8A-4147-A177-3AD203B41FA5}">
                      <a16:colId xmlns:a16="http://schemas.microsoft.com/office/drawing/2014/main" val="4079530603"/>
                    </a:ext>
                  </a:extLst>
                </a:gridCol>
                <a:gridCol w="4618831">
                  <a:extLst>
                    <a:ext uri="{9D8B030D-6E8A-4147-A177-3AD203B41FA5}">
                      <a16:colId xmlns:a16="http://schemas.microsoft.com/office/drawing/2014/main" val="7285443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Metric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E066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6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66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6C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Result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A06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6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6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7C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842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Overall MF Accuracy</a:t>
                      </a:r>
                      <a:endParaRPr lang="en-US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E06C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7C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6C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AC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1/4 Good, 2/4 Partial, 1/4 Missed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E07C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7C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7C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BD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197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Overall BP Accuracy</a:t>
                      </a:r>
                      <a:endParaRPr lang="en-US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20AC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BD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AC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BC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2/4 Good, 2/4 Partial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A0BD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BD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BD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B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356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Overall CC Accuracy</a:t>
                      </a:r>
                      <a:endParaRPr lang="en-US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A0BC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B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BC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BC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0/4 Good, 3/4 Partial, 1/4 Missed</a:t>
                      </a:r>
                    </a:p>
                  </a:txBody>
                  <a:tcPr marL="57150" marR="57150" marT="38100" marB="38100" anchor="ctr">
                    <a:lnL w="9525" cap="flat" cmpd="sng" algn="ctr">
                      <a:solidFill>
                        <a:srgbClr val="A0B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B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B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B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609041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1D113-08F9-75E7-E00C-A069E3B2B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E82EC-A19E-4938-A670-8750C23CEA8A}" type="datetime1">
              <a:rPr/>
              <a:t>2/5/2026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31848-227E-8DEB-4EF6-618F0FC27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78B67-62DB-1ABB-D99E-6CC66DFCE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018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F5DA1-F866-87BB-CD4C-A9BBD6364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8E306-46FC-3939-85D5-6D6CD0209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181818"/>
                </a:highlight>
                <a:latin typeface="Trade Gothic Next Light"/>
              </a:rPr>
              <a:t>DPFunc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181818"/>
                </a:highlight>
                <a:latin typeface="Trade Gothic Next Light"/>
              </a:rPr>
              <a:t> excels at predicting general "binding" functions but struggles with specific activities (kinase, transporter)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Trade Gothic Next Light"/>
            </a:endParaRP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181818"/>
                </a:highlight>
                <a:latin typeface="Trade Gothic Next Light"/>
              </a:rPr>
              <a:t>Without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181818"/>
                </a:highlight>
                <a:latin typeface="Trade Gothic Next Light"/>
              </a:rPr>
              <a:t>InterPro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181818"/>
                </a:highlight>
                <a:latin typeface="Trade Gothic Next Light"/>
              </a:rPr>
              <a:t> domain annotations, predictions are limited to structure-based features (not enough HPCC storage space)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Trade Gothic Next Light"/>
            </a:endParaRPr>
          </a:p>
          <a:p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181818"/>
                </a:highlight>
                <a:latin typeface="Trade Gothic Next Light"/>
              </a:rPr>
              <a:t>Membrane proteins (OATP1B1, FLS2) had low membrane prediction confidence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Trade Gothic Next Light"/>
            </a:endParaRPr>
          </a:p>
          <a:p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181818"/>
                </a:highlight>
                <a:latin typeface="Trade Gothic Next Light"/>
              </a:rPr>
              <a:t>Secreted/extracellular proteins were incorrectly predicted as intracellular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Trade Gothic Next Light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918C4-62C7-DF60-9C26-761A86DC0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98238-1D13-4B08-BA20-A69FC76A29BF}" type="datetime1">
              <a:rPr/>
              <a:t>2/5/2026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D3F03-39ED-DF82-FEAF-791ADBBC7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0FE77-F54D-6B0C-2770-205174CD2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569322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218</TotalTime>
  <Words>988</Words>
  <Application>Microsoft Office PowerPoint</Application>
  <PresentationFormat>Widescreen</PresentationFormat>
  <Paragraphs>181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Trade Gothic Next Cond</vt:lpstr>
      <vt:lpstr>Trade Gothic Next Light</vt:lpstr>
      <vt:lpstr>PortalVTI</vt:lpstr>
      <vt:lpstr>CMSE 882 week 3 HW</vt:lpstr>
      <vt:lpstr>Issues encountered</vt:lpstr>
      <vt:lpstr>DPFunc – Molecular function</vt:lpstr>
      <vt:lpstr>DpFunc – biological process</vt:lpstr>
      <vt:lpstr>dpfunc – cellular component</vt:lpstr>
      <vt:lpstr>Protein Comparison</vt:lpstr>
      <vt:lpstr>Protein Description</vt:lpstr>
      <vt:lpstr>Molecular Function</vt:lpstr>
      <vt:lpstr>Biological process</vt:lpstr>
      <vt:lpstr>Cellular component</vt:lpstr>
      <vt:lpstr>Summary</vt:lpstr>
      <vt:lpstr>Key observations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Behrendt, Michael</cp:lastModifiedBy>
  <cp:revision>173</cp:revision>
  <dcterms:created xsi:type="dcterms:W3CDTF">2026-02-04T15:18:08Z</dcterms:created>
  <dcterms:modified xsi:type="dcterms:W3CDTF">2026-02-05T14:57:41Z</dcterms:modified>
</cp:coreProperties>
</file>