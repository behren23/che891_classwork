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62" r:id="rId5"/>
    <p:sldId id="263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37AC1C-8574-E19F-771E-9315D1BC067E}" v="176" dt="2026-02-11T20:30:33.637"/>
    <p1510:client id="{66847ADB-B4FA-94A7-21E9-CAB107738A26}" v="52" dt="2026-02-11T20:32:49.282"/>
    <p1510:client id="{C4B8F05A-C507-7B74-1463-D68ADD94A1F3}" v="27" dt="2026-02-11T18:01:59.3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michiganstate-my.sharepoint.com/personal/decast16_msu_edu/Documents/882%20Boltz2%20OnionNet%20Affiniti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michiganstate-my.sharepoint.com/personal/decast16_msu_edu/Documents/882%20Boltz2%20OnionNet%20Affiniti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Boltz2 vs. OnionNet Affinity Comparison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Sheet1!$O$11</c:f>
              <c:strCache>
                <c:ptCount val="1"/>
                <c:pt idx="0">
                  <c:v>OnionNet_pKa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Sheet1!$O$12:$O$61</c:f>
              <c:numCache>
                <c:formatCode>General</c:formatCode>
                <c:ptCount val="50"/>
                <c:pt idx="0">
                  <c:v>6.6390000000000002</c:v>
                </c:pt>
                <c:pt idx="1">
                  <c:v>6.04</c:v>
                </c:pt>
                <c:pt idx="2">
                  <c:v>6.0069999999999997</c:v>
                </c:pt>
                <c:pt idx="3">
                  <c:v>5.7229999999999999</c:v>
                </c:pt>
                <c:pt idx="4">
                  <c:v>5.6349999999999998</c:v>
                </c:pt>
                <c:pt idx="5">
                  <c:v>5.51</c:v>
                </c:pt>
                <c:pt idx="6">
                  <c:v>5.4450000000000003</c:v>
                </c:pt>
                <c:pt idx="7">
                  <c:v>5.444</c:v>
                </c:pt>
                <c:pt idx="8">
                  <c:v>5.375</c:v>
                </c:pt>
                <c:pt idx="9">
                  <c:v>5.34</c:v>
                </c:pt>
                <c:pt idx="10">
                  <c:v>5.34</c:v>
                </c:pt>
                <c:pt idx="11">
                  <c:v>5.3280000000000003</c:v>
                </c:pt>
                <c:pt idx="12">
                  <c:v>5.2839999999999998</c:v>
                </c:pt>
                <c:pt idx="13">
                  <c:v>5.2489999999999997</c:v>
                </c:pt>
                <c:pt idx="14">
                  <c:v>5.2359999999999998</c:v>
                </c:pt>
                <c:pt idx="15">
                  <c:v>5.2240000000000002</c:v>
                </c:pt>
                <c:pt idx="16">
                  <c:v>5.1980000000000004</c:v>
                </c:pt>
                <c:pt idx="17">
                  <c:v>5.1769999999999996</c:v>
                </c:pt>
                <c:pt idx="18">
                  <c:v>5.109</c:v>
                </c:pt>
                <c:pt idx="19">
                  <c:v>5.0990000000000002</c:v>
                </c:pt>
                <c:pt idx="20">
                  <c:v>5.0250000000000004</c:v>
                </c:pt>
                <c:pt idx="21">
                  <c:v>5.0069999999999997</c:v>
                </c:pt>
                <c:pt idx="22">
                  <c:v>4.9960000000000004</c:v>
                </c:pt>
                <c:pt idx="23">
                  <c:v>4.9779999999999998</c:v>
                </c:pt>
                <c:pt idx="24">
                  <c:v>4.9539999999999997</c:v>
                </c:pt>
                <c:pt idx="25">
                  <c:v>4.9429999999999996</c:v>
                </c:pt>
                <c:pt idx="26">
                  <c:v>4.9089999999999998</c:v>
                </c:pt>
                <c:pt idx="27">
                  <c:v>4.8949999999999996</c:v>
                </c:pt>
                <c:pt idx="28">
                  <c:v>4.8390000000000004</c:v>
                </c:pt>
                <c:pt idx="29">
                  <c:v>4.78</c:v>
                </c:pt>
                <c:pt idx="30">
                  <c:v>4.7030000000000003</c:v>
                </c:pt>
                <c:pt idx="31">
                  <c:v>4.5739999999999998</c:v>
                </c:pt>
                <c:pt idx="32">
                  <c:v>4.5540000000000003</c:v>
                </c:pt>
                <c:pt idx="33">
                  <c:v>4.5439999999999996</c:v>
                </c:pt>
                <c:pt idx="34">
                  <c:v>4.5330000000000004</c:v>
                </c:pt>
                <c:pt idx="35">
                  <c:v>4.5129999999999999</c:v>
                </c:pt>
                <c:pt idx="36">
                  <c:v>4.4980000000000002</c:v>
                </c:pt>
                <c:pt idx="37">
                  <c:v>4.4649999999999999</c:v>
                </c:pt>
                <c:pt idx="38">
                  <c:v>4.38</c:v>
                </c:pt>
                <c:pt idx="39">
                  <c:v>4.2069999999999999</c:v>
                </c:pt>
                <c:pt idx="40">
                  <c:v>4.1890000000000001</c:v>
                </c:pt>
                <c:pt idx="41">
                  <c:v>4.0609999999999999</c:v>
                </c:pt>
                <c:pt idx="42">
                  <c:v>4.0069999999999997</c:v>
                </c:pt>
                <c:pt idx="43">
                  <c:v>3.839</c:v>
                </c:pt>
                <c:pt idx="44">
                  <c:v>3.605</c:v>
                </c:pt>
                <c:pt idx="45">
                  <c:v>3.407</c:v>
                </c:pt>
                <c:pt idx="46">
                  <c:v>3.36</c:v>
                </c:pt>
                <c:pt idx="47">
                  <c:v>3.3439999999999999</c:v>
                </c:pt>
                <c:pt idx="48">
                  <c:v>2.4550000000000001</c:v>
                </c:pt>
                <c:pt idx="49">
                  <c:v>2.3439999999999999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BDA-4A49-901C-2843B053234A}"/>
            </c:ext>
          </c:extLst>
        </c:ser>
        <c:ser>
          <c:idx val="1"/>
          <c:order val="1"/>
          <c:tx>
            <c:strRef>
              <c:f>Sheet1!$P$11</c:f>
              <c:strCache>
                <c:ptCount val="1"/>
                <c:pt idx="0">
                  <c:v>Boltz_pKd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Sheet1!$P$12:$P$61</c:f>
              <c:numCache>
                <c:formatCode>0.000</c:formatCode>
                <c:ptCount val="50"/>
                <c:pt idx="0">
                  <c:v>0.65533173099999997</c:v>
                </c:pt>
                <c:pt idx="1">
                  <c:v>0.87935531099999997</c:v>
                </c:pt>
                <c:pt idx="2">
                  <c:v>-6.7876278999999998E-2</c:v>
                </c:pt>
                <c:pt idx="3">
                  <c:v>0.363850534</c:v>
                </c:pt>
                <c:pt idx="4">
                  <c:v>-3.0170947E-2</c:v>
                </c:pt>
                <c:pt idx="5">
                  <c:v>-1.8255264E-2</c:v>
                </c:pt>
                <c:pt idx="6">
                  <c:v>4.4888139000000001E-2</c:v>
                </c:pt>
                <c:pt idx="7">
                  <c:v>7.7734290000000001E-3</c:v>
                </c:pt>
                <c:pt idx="8">
                  <c:v>0.63448190699999996</c:v>
                </c:pt>
                <c:pt idx="9">
                  <c:v>0.42390728</c:v>
                </c:pt>
                <c:pt idx="10">
                  <c:v>0.14229515200000001</c:v>
                </c:pt>
                <c:pt idx="11">
                  <c:v>0.38235396100000002</c:v>
                </c:pt>
                <c:pt idx="12">
                  <c:v>0.278465658</c:v>
                </c:pt>
                <c:pt idx="13">
                  <c:v>0.34771159299999999</c:v>
                </c:pt>
                <c:pt idx="14">
                  <c:v>1.1421220299999999</c:v>
                </c:pt>
                <c:pt idx="15">
                  <c:v>0.74736964699999997</c:v>
                </c:pt>
                <c:pt idx="16">
                  <c:v>0.47574526099999997</c:v>
                </c:pt>
                <c:pt idx="17">
                  <c:v>0.31219628500000002</c:v>
                </c:pt>
                <c:pt idx="18">
                  <c:v>0.331093729</c:v>
                </c:pt>
                <c:pt idx="19">
                  <c:v>0.80221635099999999</c:v>
                </c:pt>
                <c:pt idx="20">
                  <c:v>0.78658080100000005</c:v>
                </c:pt>
                <c:pt idx="21">
                  <c:v>0.35959297400000001</c:v>
                </c:pt>
                <c:pt idx="22">
                  <c:v>1.6936874390000001</c:v>
                </c:pt>
                <c:pt idx="23">
                  <c:v>0.137418866</c:v>
                </c:pt>
                <c:pt idx="24">
                  <c:v>0.75503236100000004</c:v>
                </c:pt>
                <c:pt idx="25">
                  <c:v>0.53018444799999997</c:v>
                </c:pt>
                <c:pt idx="26">
                  <c:v>0.59841847400000003</c:v>
                </c:pt>
                <c:pt idx="27">
                  <c:v>0.91119933099999995</c:v>
                </c:pt>
                <c:pt idx="28">
                  <c:v>0.67774105100000004</c:v>
                </c:pt>
                <c:pt idx="29">
                  <c:v>9.8133445E-2</c:v>
                </c:pt>
                <c:pt idx="30">
                  <c:v>0.80649918300000001</c:v>
                </c:pt>
                <c:pt idx="31">
                  <c:v>1.276361227</c:v>
                </c:pt>
                <c:pt idx="32">
                  <c:v>0.53656143000000001</c:v>
                </c:pt>
                <c:pt idx="33">
                  <c:v>1.135582447</c:v>
                </c:pt>
                <c:pt idx="34">
                  <c:v>1.483022928</c:v>
                </c:pt>
                <c:pt idx="35">
                  <c:v>1.026295424</c:v>
                </c:pt>
                <c:pt idx="36">
                  <c:v>0.65269327200000005</c:v>
                </c:pt>
                <c:pt idx="37">
                  <c:v>1.305077434</c:v>
                </c:pt>
                <c:pt idx="38">
                  <c:v>0.69262743000000004</c:v>
                </c:pt>
                <c:pt idx="39">
                  <c:v>1.1690984959999999</c:v>
                </c:pt>
                <c:pt idx="40">
                  <c:v>1.073814869</c:v>
                </c:pt>
                <c:pt idx="41">
                  <c:v>0.52536743900000005</c:v>
                </c:pt>
                <c:pt idx="42">
                  <c:v>1.3602057700000001</c:v>
                </c:pt>
                <c:pt idx="43">
                  <c:v>1.6029558180000001</c:v>
                </c:pt>
                <c:pt idx="44">
                  <c:v>1.6011786459999999</c:v>
                </c:pt>
                <c:pt idx="45">
                  <c:v>1.304869294</c:v>
                </c:pt>
                <c:pt idx="46">
                  <c:v>1.426818728</c:v>
                </c:pt>
                <c:pt idx="47">
                  <c:v>1.2240583899999999</c:v>
                </c:pt>
                <c:pt idx="48">
                  <c:v>0.91035842899999997</c:v>
                </c:pt>
                <c:pt idx="49">
                  <c:v>1.529833078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BDA-4A49-901C-2843B05323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45219920"/>
        <c:axId val="1604206592"/>
      </c:lineChart>
      <c:catAx>
        <c:axId val="15452199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Ligand Number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4206592"/>
        <c:crosses val="autoZero"/>
        <c:auto val="1"/>
        <c:lblAlgn val="ctr"/>
        <c:lblOffset val="100"/>
        <c:noMultiLvlLbl val="0"/>
      </c:catAx>
      <c:valAx>
        <c:axId val="1604206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pka/d (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521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OnionNet and Boltz comparison</a:t>
            </a: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Sheet1!$P$11</c:f>
              <c:strCache>
                <c:ptCount val="1"/>
                <c:pt idx="0">
                  <c:v>Boltz_pKd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0"/>
            <c:trendlineLbl>
              <c:layout>
                <c:manualLayout>
                  <c:x val="-0.36472616721996509"/>
                  <c:y val="-0.1567180432233205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Sheet1!$O$12:$O$61</c:f>
              <c:numCache>
                <c:formatCode>General</c:formatCode>
                <c:ptCount val="50"/>
                <c:pt idx="0">
                  <c:v>6.6390000000000002</c:v>
                </c:pt>
                <c:pt idx="1">
                  <c:v>6.04</c:v>
                </c:pt>
                <c:pt idx="2">
                  <c:v>6.0069999999999997</c:v>
                </c:pt>
                <c:pt idx="3">
                  <c:v>5.7229999999999999</c:v>
                </c:pt>
                <c:pt idx="4">
                  <c:v>5.6349999999999998</c:v>
                </c:pt>
                <c:pt idx="5">
                  <c:v>5.51</c:v>
                </c:pt>
                <c:pt idx="6">
                  <c:v>5.4450000000000003</c:v>
                </c:pt>
                <c:pt idx="7">
                  <c:v>5.444</c:v>
                </c:pt>
                <c:pt idx="8">
                  <c:v>5.375</c:v>
                </c:pt>
                <c:pt idx="9">
                  <c:v>5.34</c:v>
                </c:pt>
                <c:pt idx="10">
                  <c:v>5.34</c:v>
                </c:pt>
                <c:pt idx="11">
                  <c:v>5.3280000000000003</c:v>
                </c:pt>
                <c:pt idx="12">
                  <c:v>5.2839999999999998</c:v>
                </c:pt>
                <c:pt idx="13">
                  <c:v>5.2489999999999997</c:v>
                </c:pt>
                <c:pt idx="14">
                  <c:v>5.2359999999999998</c:v>
                </c:pt>
                <c:pt idx="15">
                  <c:v>5.2240000000000002</c:v>
                </c:pt>
                <c:pt idx="16">
                  <c:v>5.1980000000000004</c:v>
                </c:pt>
                <c:pt idx="17">
                  <c:v>5.1769999999999996</c:v>
                </c:pt>
                <c:pt idx="18">
                  <c:v>5.109</c:v>
                </c:pt>
                <c:pt idx="19">
                  <c:v>5.0990000000000002</c:v>
                </c:pt>
                <c:pt idx="20">
                  <c:v>5.0250000000000004</c:v>
                </c:pt>
                <c:pt idx="21">
                  <c:v>5.0069999999999997</c:v>
                </c:pt>
                <c:pt idx="22">
                  <c:v>4.9960000000000004</c:v>
                </c:pt>
                <c:pt idx="23">
                  <c:v>4.9779999999999998</c:v>
                </c:pt>
                <c:pt idx="24">
                  <c:v>4.9539999999999997</c:v>
                </c:pt>
                <c:pt idx="25">
                  <c:v>4.9429999999999996</c:v>
                </c:pt>
                <c:pt idx="26">
                  <c:v>4.9089999999999998</c:v>
                </c:pt>
                <c:pt idx="27">
                  <c:v>4.8949999999999996</c:v>
                </c:pt>
                <c:pt idx="28">
                  <c:v>4.8390000000000004</c:v>
                </c:pt>
                <c:pt idx="29">
                  <c:v>4.78</c:v>
                </c:pt>
                <c:pt idx="30">
                  <c:v>4.7030000000000003</c:v>
                </c:pt>
                <c:pt idx="31">
                  <c:v>4.5739999999999998</c:v>
                </c:pt>
                <c:pt idx="32">
                  <c:v>4.5540000000000003</c:v>
                </c:pt>
                <c:pt idx="33">
                  <c:v>4.5439999999999996</c:v>
                </c:pt>
                <c:pt idx="34">
                  <c:v>4.5330000000000004</c:v>
                </c:pt>
                <c:pt idx="35">
                  <c:v>4.5129999999999999</c:v>
                </c:pt>
                <c:pt idx="36">
                  <c:v>4.4980000000000002</c:v>
                </c:pt>
                <c:pt idx="37">
                  <c:v>4.4649999999999999</c:v>
                </c:pt>
                <c:pt idx="38">
                  <c:v>4.38</c:v>
                </c:pt>
                <c:pt idx="39">
                  <c:v>4.2069999999999999</c:v>
                </c:pt>
                <c:pt idx="40">
                  <c:v>4.1890000000000001</c:v>
                </c:pt>
                <c:pt idx="41">
                  <c:v>4.0609999999999999</c:v>
                </c:pt>
                <c:pt idx="42">
                  <c:v>4.0069999999999997</c:v>
                </c:pt>
                <c:pt idx="43">
                  <c:v>3.839</c:v>
                </c:pt>
                <c:pt idx="44">
                  <c:v>3.605</c:v>
                </c:pt>
                <c:pt idx="45">
                  <c:v>3.407</c:v>
                </c:pt>
                <c:pt idx="46">
                  <c:v>3.36</c:v>
                </c:pt>
                <c:pt idx="47">
                  <c:v>3.3439999999999999</c:v>
                </c:pt>
                <c:pt idx="48">
                  <c:v>2.4550000000000001</c:v>
                </c:pt>
                <c:pt idx="49">
                  <c:v>2.3439999999999999</c:v>
                </c:pt>
              </c:numCache>
            </c:numRef>
          </c:xVal>
          <c:yVal>
            <c:numRef>
              <c:f>Sheet1!$P$12:$P$61</c:f>
              <c:numCache>
                <c:formatCode>0.000</c:formatCode>
                <c:ptCount val="50"/>
                <c:pt idx="0">
                  <c:v>0.65533173099999997</c:v>
                </c:pt>
                <c:pt idx="1">
                  <c:v>0.87935531099999997</c:v>
                </c:pt>
                <c:pt idx="2">
                  <c:v>-6.7876278999999998E-2</c:v>
                </c:pt>
                <c:pt idx="3">
                  <c:v>0.363850534</c:v>
                </c:pt>
                <c:pt idx="4">
                  <c:v>-3.0170947E-2</c:v>
                </c:pt>
                <c:pt idx="5">
                  <c:v>-1.8255264E-2</c:v>
                </c:pt>
                <c:pt idx="6">
                  <c:v>4.4888139000000001E-2</c:v>
                </c:pt>
                <c:pt idx="7">
                  <c:v>7.7734290000000001E-3</c:v>
                </c:pt>
                <c:pt idx="8">
                  <c:v>0.63448190699999996</c:v>
                </c:pt>
                <c:pt idx="9">
                  <c:v>0.42390728</c:v>
                </c:pt>
                <c:pt idx="10">
                  <c:v>0.14229515200000001</c:v>
                </c:pt>
                <c:pt idx="11">
                  <c:v>0.38235396100000002</c:v>
                </c:pt>
                <c:pt idx="12">
                  <c:v>0.278465658</c:v>
                </c:pt>
                <c:pt idx="13">
                  <c:v>0.34771159299999999</c:v>
                </c:pt>
                <c:pt idx="14">
                  <c:v>1.1421220299999999</c:v>
                </c:pt>
                <c:pt idx="15">
                  <c:v>0.74736964699999997</c:v>
                </c:pt>
                <c:pt idx="16">
                  <c:v>0.47574526099999997</c:v>
                </c:pt>
                <c:pt idx="17">
                  <c:v>0.31219628500000002</c:v>
                </c:pt>
                <c:pt idx="18">
                  <c:v>0.331093729</c:v>
                </c:pt>
                <c:pt idx="19">
                  <c:v>0.80221635099999999</c:v>
                </c:pt>
                <c:pt idx="20">
                  <c:v>0.78658080100000005</c:v>
                </c:pt>
                <c:pt idx="21">
                  <c:v>0.35959297400000001</c:v>
                </c:pt>
                <c:pt idx="22">
                  <c:v>1.6936874390000001</c:v>
                </c:pt>
                <c:pt idx="23">
                  <c:v>0.137418866</c:v>
                </c:pt>
                <c:pt idx="24">
                  <c:v>0.75503236100000004</c:v>
                </c:pt>
                <c:pt idx="25">
                  <c:v>0.53018444799999997</c:v>
                </c:pt>
                <c:pt idx="26">
                  <c:v>0.59841847400000003</c:v>
                </c:pt>
                <c:pt idx="27">
                  <c:v>0.91119933099999995</c:v>
                </c:pt>
                <c:pt idx="28">
                  <c:v>0.67774105100000004</c:v>
                </c:pt>
                <c:pt idx="29">
                  <c:v>9.8133445E-2</c:v>
                </c:pt>
                <c:pt idx="30">
                  <c:v>0.80649918300000001</c:v>
                </c:pt>
                <c:pt idx="31">
                  <c:v>1.276361227</c:v>
                </c:pt>
                <c:pt idx="32">
                  <c:v>0.53656143000000001</c:v>
                </c:pt>
                <c:pt idx="33">
                  <c:v>1.135582447</c:v>
                </c:pt>
                <c:pt idx="34">
                  <c:v>1.483022928</c:v>
                </c:pt>
                <c:pt idx="35">
                  <c:v>1.026295424</c:v>
                </c:pt>
                <c:pt idx="36">
                  <c:v>0.65269327200000005</c:v>
                </c:pt>
                <c:pt idx="37">
                  <c:v>1.305077434</c:v>
                </c:pt>
                <c:pt idx="38">
                  <c:v>0.69262743000000004</c:v>
                </c:pt>
                <c:pt idx="39">
                  <c:v>1.1690984959999999</c:v>
                </c:pt>
                <c:pt idx="40">
                  <c:v>1.073814869</c:v>
                </c:pt>
                <c:pt idx="41">
                  <c:v>0.52536743900000005</c:v>
                </c:pt>
                <c:pt idx="42">
                  <c:v>1.3602057700000001</c:v>
                </c:pt>
                <c:pt idx="43">
                  <c:v>1.6029558180000001</c:v>
                </c:pt>
                <c:pt idx="44">
                  <c:v>1.6011786459999999</c:v>
                </c:pt>
                <c:pt idx="45">
                  <c:v>1.304869294</c:v>
                </c:pt>
                <c:pt idx="46">
                  <c:v>1.426818728</c:v>
                </c:pt>
                <c:pt idx="47">
                  <c:v>1.2240583899999999</c:v>
                </c:pt>
                <c:pt idx="48">
                  <c:v>0.91035842899999997</c:v>
                </c:pt>
                <c:pt idx="49">
                  <c:v>1.529833078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44F-4B96-88FC-386025CA34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4360967"/>
        <c:axId val="745705991"/>
      </c:scatterChart>
      <c:valAx>
        <c:axId val="5443609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OnionNet pKa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5705991"/>
        <c:crosses val="autoZero"/>
        <c:crossBetween val="midCat"/>
      </c:valAx>
      <c:valAx>
        <c:axId val="745705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Boltz pKd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436096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CMSE 882 Week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Boltz and </a:t>
            </a:r>
            <a:r>
              <a:rPr lang="en-US" err="1"/>
              <a:t>Onionnet</a:t>
            </a:r>
            <a:r>
              <a:rPr lang="en-US"/>
              <a:t> binding affinities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EF58A2-3DC8-E7E3-AC45-ACF62B622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359" y="250805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/>
              <a:t>PE8 (Positive Control)</a:t>
            </a:r>
          </a:p>
          <a:p>
            <a:pPr marL="0" indent="0">
              <a:buNone/>
            </a:pPr>
            <a:r>
              <a:rPr lang="en-US" sz="2400">
                <a:latin typeface="Arial"/>
                <a:cs typeface="Arial"/>
              </a:rPr>
              <a:t> •</a:t>
            </a:r>
            <a:r>
              <a:rPr lang="en-US" sz="2400"/>
              <a:t>Moderate size</a:t>
            </a:r>
            <a:endParaRPr lang="en-US"/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/>
              <a:t>PEG6_diol</a:t>
            </a: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/>
              <a:t>Octylphenyl_PEG8</a:t>
            </a: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/>
              <a:t>TEGDN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EE0208-0421-B0BA-C147-45C690CB9ACC}"/>
              </a:ext>
            </a:extLst>
          </p:cNvPr>
          <p:cNvSpPr txBox="1"/>
          <p:nvPr/>
        </p:nvSpPr>
        <p:spPr>
          <a:xfrm>
            <a:off x="478554" y="262744"/>
            <a:ext cx="1034296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latin typeface="Aptos Display"/>
              </a:rPr>
              <a:t>Positive controls were selected as moderately sized amphiphilic ligands capable of interacting within antibody surface grooves</a:t>
            </a:r>
            <a:endParaRPr lang="en-US"/>
          </a:p>
        </p:txBody>
      </p:sp>
      <p:pic>
        <p:nvPicPr>
          <p:cNvPr id="2" name="Picture 1" descr="A black and white drawing of a chemical formula&#10;&#10;AI-generated content may be incorrect.">
            <a:extLst>
              <a:ext uri="{FF2B5EF4-FFF2-40B4-BE49-F238E27FC236}">
                <a16:creationId xmlns:a16="http://schemas.microsoft.com/office/drawing/2014/main" id="{4E483B61-1D1F-3CFE-929E-4D52477A7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849" y="2707901"/>
            <a:ext cx="676275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27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797E7-21C1-499F-C3EF-FA4854590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Negative controls were selected as large, highly flexible PEG or lipid-conjugated molecules expected have lower affinities due to steric hindrance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EEB33-509A-B70E-1210-8B43C9420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/>
              <a:t>Large, highly flexible polymers</a:t>
            </a:r>
          </a:p>
          <a:p>
            <a:pPr>
              <a:buNone/>
            </a:pPr>
            <a:r>
              <a:rPr lang="en-US" sz="2400">
                <a:latin typeface="Arial"/>
                <a:cs typeface="Arial"/>
              </a:rPr>
              <a:t> •</a:t>
            </a:r>
            <a:r>
              <a:rPr lang="en-US" sz="2400"/>
              <a:t>PEG13/14_diol</a:t>
            </a:r>
            <a:endParaRPr lang="en-US"/>
          </a:p>
          <a:p>
            <a:pPr>
              <a:buNone/>
            </a:pPr>
            <a:r>
              <a:rPr lang="en-US" sz="2400">
                <a:latin typeface="Arial"/>
                <a:cs typeface="Arial"/>
              </a:rPr>
              <a:t> •</a:t>
            </a:r>
            <a:r>
              <a:rPr lang="en-US" sz="2400"/>
              <a:t>mPEG12 variants</a:t>
            </a:r>
            <a:endParaRPr lang="en-US"/>
          </a:p>
          <a:p>
            <a:pPr>
              <a:buNone/>
            </a:pPr>
            <a:r>
              <a:rPr lang="en-US">
                <a:latin typeface="Arial"/>
                <a:cs typeface="Arial"/>
              </a:rPr>
              <a:t>•</a:t>
            </a:r>
            <a:r>
              <a:rPr lang="en-US"/>
              <a:t>Bulky lipids/molecules</a:t>
            </a:r>
          </a:p>
          <a:p>
            <a:pPr>
              <a:buNone/>
            </a:pPr>
            <a:r>
              <a:rPr lang="en-US" sz="2400">
                <a:latin typeface="Arial"/>
                <a:cs typeface="Arial"/>
              </a:rPr>
              <a:t> •</a:t>
            </a:r>
            <a:r>
              <a:rPr lang="en-US" sz="2400"/>
              <a:t>DSPE_PEG12</a:t>
            </a:r>
            <a:endParaRPr lang="en-US"/>
          </a:p>
          <a:p>
            <a:pPr>
              <a:buNone/>
            </a:pPr>
            <a:r>
              <a:rPr lang="en-US" sz="2400">
                <a:latin typeface="Arial"/>
                <a:cs typeface="Arial"/>
              </a:rPr>
              <a:t> •</a:t>
            </a:r>
            <a:r>
              <a:rPr lang="en-US" sz="2400"/>
              <a:t>Cholesterol_PEG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A0D7AE-57F4-CEB0-C828-B0F969AD8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119" y="3678051"/>
            <a:ext cx="782955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154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92E02E-E778-C2C3-AB91-0E0D0D793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254" y="643466"/>
            <a:ext cx="4401141" cy="557106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94BD957-F3D0-24DA-5D87-D96EC1E5F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025" y="643467"/>
            <a:ext cx="417829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690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F1AEB-A813-F4B5-EEA2-61F648471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1C10A-01A7-E919-FCD5-619A88F5B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990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4A522-F3BB-161E-EFE8-E89BC1AD6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 10 ligands (ranked by </a:t>
            </a:r>
            <a:r>
              <a:rPr lang="en-US" err="1"/>
              <a:t>OnionNet</a:t>
            </a:r>
            <a:r>
              <a:rPr lang="en-US"/>
              <a:t>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49F4FB9-AF76-F66A-FF8C-8252DF069D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3591835"/>
              </p:ext>
            </p:extLst>
          </p:nvPr>
        </p:nvGraphicFramePr>
        <p:xfrm>
          <a:off x="413795" y="1825625"/>
          <a:ext cx="10515596" cy="4846320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1540746">
                  <a:extLst>
                    <a:ext uri="{9D8B030D-6E8A-4147-A177-3AD203B41FA5}">
                      <a16:colId xmlns:a16="http://schemas.microsoft.com/office/drawing/2014/main" val="951304117"/>
                    </a:ext>
                  </a:extLst>
                </a:gridCol>
                <a:gridCol w="2234083">
                  <a:extLst>
                    <a:ext uri="{9D8B030D-6E8A-4147-A177-3AD203B41FA5}">
                      <a16:colId xmlns:a16="http://schemas.microsoft.com/office/drawing/2014/main" val="523624817"/>
                    </a:ext>
                  </a:extLst>
                </a:gridCol>
                <a:gridCol w="1579266">
                  <a:extLst>
                    <a:ext uri="{9D8B030D-6E8A-4147-A177-3AD203B41FA5}">
                      <a16:colId xmlns:a16="http://schemas.microsoft.com/office/drawing/2014/main" val="339277747"/>
                    </a:ext>
                  </a:extLst>
                </a:gridCol>
                <a:gridCol w="1425191">
                  <a:extLst>
                    <a:ext uri="{9D8B030D-6E8A-4147-A177-3AD203B41FA5}">
                      <a16:colId xmlns:a16="http://schemas.microsoft.com/office/drawing/2014/main" val="4000385764"/>
                    </a:ext>
                  </a:extLst>
                </a:gridCol>
                <a:gridCol w="2041489">
                  <a:extLst>
                    <a:ext uri="{9D8B030D-6E8A-4147-A177-3AD203B41FA5}">
                      <a16:colId xmlns:a16="http://schemas.microsoft.com/office/drawing/2014/main" val="1221736418"/>
                    </a:ext>
                  </a:extLst>
                </a:gridCol>
                <a:gridCol w="1694821">
                  <a:extLst>
                    <a:ext uri="{9D8B030D-6E8A-4147-A177-3AD203B41FA5}">
                      <a16:colId xmlns:a16="http://schemas.microsoft.com/office/drawing/2014/main" val="2622469250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Ligand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OnionNet_pKa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Boltz_pKd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Boltz_Binding_Prob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Boltz_Confidence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257774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Cholesterol_PEG8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6.639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0.655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0.177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0.894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651686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mPEG12_maleimide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6.04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0.879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0.352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0.822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048586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DSPE_PEG8_maleimide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6.007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-0.068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0.657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0.790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591223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PEG16_diol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5.723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0.364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0.428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0.761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46347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mPEG12_NHS_ester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5.635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-0.030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0.471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0.799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993266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PEG28_diol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-0.018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0.556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0.722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317500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HO_PEG12_phosphate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5.445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0.464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0.789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776897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Cholesterol_PEG12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5.444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0.266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0.781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60545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PEG8_dimesylate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5.375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0.634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0.441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0.770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41963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effectLst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HO_PEG12_NH2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5.34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0.424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0.429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0.810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877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87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9149E-B234-FB60-2634-EAD2F5814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shows little correlation between </a:t>
            </a:r>
            <a:r>
              <a:rPr lang="en-US" dirty="0" err="1"/>
              <a:t>OnionNet</a:t>
            </a:r>
            <a:r>
              <a:rPr lang="en-US" dirty="0"/>
              <a:t> and Boltz2 prediction values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A5B18E9-A951-0798-1708-45D8F810C7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9339168"/>
              </p:ext>
            </p:extLst>
          </p:nvPr>
        </p:nvGraphicFramePr>
        <p:xfrm>
          <a:off x="6496592" y="2617084"/>
          <a:ext cx="5374664" cy="3579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724FA50-0980-D23B-6AE1-968C249A06C1}"/>
              </a:ext>
              <a:ext uri="{147F2762-F138-4A5C-976F-8EAC2B608ADB}">
                <a16:predDERef xmlns:a16="http://schemas.microsoft.com/office/drawing/2014/main" pred="{CA5B18E9-A951-0798-1708-45D8F810C7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4853672"/>
              </p:ext>
            </p:extLst>
          </p:nvPr>
        </p:nvGraphicFramePr>
        <p:xfrm>
          <a:off x="150652" y="2612624"/>
          <a:ext cx="6431545" cy="3880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Picture 2" descr="A graph of blue and orange lines&#10;&#10;AI-generated content may be incorrect.">
            <a:extLst>
              <a:ext uri="{FF2B5EF4-FFF2-40B4-BE49-F238E27FC236}">
                <a16:creationId xmlns:a16="http://schemas.microsoft.com/office/drawing/2014/main" id="{3CB51E1F-877A-998E-DCAD-1E6E9F3DB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404" y="2758608"/>
            <a:ext cx="5693709" cy="343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104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C4C1-E262-59D0-F860-D58F3B680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D97FD-D2DD-5F65-4AB6-3F7CAEA4E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981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CMSE 882 Week 4</vt:lpstr>
      <vt:lpstr>PowerPoint Presentation</vt:lpstr>
      <vt:lpstr>Negative controls were selected as large, highly flexible PEG or lipid-conjugated molecules expected have lower affinities due to steric hindrance</vt:lpstr>
      <vt:lpstr>PowerPoint Presentation</vt:lpstr>
      <vt:lpstr>PowerPoint Presentation</vt:lpstr>
      <vt:lpstr>Top 10 ligands (ranked by OnionNet)</vt:lpstr>
      <vt:lpstr>Data shows little correlation between OnionNet and Boltz2 prediction values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2026-02-11T17:50:08Z</dcterms:created>
  <dcterms:modified xsi:type="dcterms:W3CDTF">2026-02-11T20:33:22Z</dcterms:modified>
</cp:coreProperties>
</file>